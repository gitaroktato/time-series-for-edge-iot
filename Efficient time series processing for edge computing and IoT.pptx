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9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embeddedFontLs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Montserrat" panose="000005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resztesz Margaritisz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57F869-8F06-4E3D-9445-9C60E8E8C20B}">
  <a:tblStyle styleId="{4F57F869-8F06-4E3D-9445-9C60E8E8C2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817" autoAdjust="0"/>
  </p:normalViewPr>
  <p:slideViewPr>
    <p:cSldViewPr snapToGrid="0">
      <p:cViewPr varScale="1">
        <p:scale>
          <a:sx n="82" d="100"/>
          <a:sy n="82" d="100"/>
        </p:scale>
        <p:origin x="14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9-10T16:17:19.657" idx="1">
    <p:pos x="6000" y="0"/>
    <p:text>monolythic / choreography / orchestration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9-10T16:05:42.977" idx="2">
    <p:pos x="600" y="1245"/>
    <p:text>Decoupling "sensing" from "recording"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9-10T16:15:25.122" idx="6">
    <p:pos x="6000" y="300"/>
    <p:text>https://www.electronicwings.com/sensors-modules/mpu6050-gyroscope-accelerometer-temperature-sensor-module</p:text>
  </p:cm>
  <p:cm authorId="0" dt="2024-09-10T16:15:29.781" idx="3">
    <p:pos x="6000" y="0"/>
    <p:text>https://www.thingiverse.com/thing:220585</p:text>
  </p:cm>
  <p:cm authorId="0" dt="2024-09-10T16:31:03.177" idx="5">
    <p:pos x="6000" y="200"/>
    <p:text>https://github.com/shillehbean/youtube-p2/blob/main/mpu6050_test.py</p:text>
  </p:cm>
  <p:cm authorId="0" dt="2024-09-10T16:34:56.438" idx="4">
    <p:pos x="6000" y="100"/>
    <p:text>https://github.com/timwaizenegger/raspberrypi-examples/blob/master/sensor-thumb-joystick/ky023.py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d8593ec3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fd8593ec3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d8593ec3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d8593ec3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d8593ec3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d8593ec3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e06de13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e06de13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5bd0003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05bd0003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e06de13c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e06de13c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f81fffad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ff81fffad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d8593ec3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d8593ec3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d8593ec39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d8593ec39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e06de13c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fe06de13c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e06de13c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e06de13c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e06de13c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e06de13c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e06de13c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e06de13c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fe06de13c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fe06de13c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08ac7bb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008ac7bb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008ac7bbd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008ac7bbd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08ac7bbd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008ac7bbd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e38b7d2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fe38b7d2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02cca05f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02cca05f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551f0d0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551f0d0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0551f0d0d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0551f0d0d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617d8bb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617d8bb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617d8bb1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0617d8bb1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628475c3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0628475c3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628475c3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0628475c3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0551f0d0d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0551f0d0d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628475c3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0628475c3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executable segment contains separate text and data segments.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628475c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0628475c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628475c3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628475c3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614b67215_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1614b67215_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008ac7bbd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008ac7bbd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12107205f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12107205f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11708" y="25717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Efficient time series processing for edge computing and IoT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0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numeru slajdu 3">
            <a:extLst>
              <a:ext uri="{FF2B5EF4-FFF2-40B4-BE49-F238E27FC236}">
                <a16:creationId xmlns:a16="http://schemas.microsoft.com/office/drawing/2014/main" id="{5B1BDBFE-EF75-A398-08C1-7231DEC289B4}"/>
              </a:ext>
            </a:extLst>
          </p:cNvPr>
          <p:cNvSpPr txBox="1">
            <a:spLocks/>
          </p:cNvSpPr>
          <p:nvPr/>
        </p:nvSpPr>
        <p:spPr>
          <a:xfrm>
            <a:off x="574190" y="4715429"/>
            <a:ext cx="3464853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25" dirty="0">
                <a:solidFill>
                  <a:srgbClr val="8B19FE"/>
                </a:solidFill>
              </a:rPr>
              <a:t>Event organized by: Academic Partners Foundation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2B7BCBF-A521-D45B-41CF-E5404411F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1088" y="0"/>
            <a:ext cx="4252911" cy="5143499"/>
          </a:xfrm>
          <a:prstGeom prst="rect">
            <a:avLst/>
          </a:prstGeom>
        </p:spPr>
      </p:pic>
      <p:sp>
        <p:nvSpPr>
          <p:cNvPr id="16" name="Tytuł 1">
            <a:extLst>
              <a:ext uri="{FF2B5EF4-FFF2-40B4-BE49-F238E27FC236}">
                <a16:creationId xmlns:a16="http://schemas.microsoft.com/office/drawing/2014/main" id="{1A09E6E6-DFC6-B045-6596-F35995119B36}"/>
              </a:ext>
            </a:extLst>
          </p:cNvPr>
          <p:cNvSpPr txBox="1">
            <a:spLocks/>
          </p:cNvSpPr>
          <p:nvPr/>
        </p:nvSpPr>
        <p:spPr>
          <a:xfrm>
            <a:off x="574191" y="453628"/>
            <a:ext cx="4316897" cy="2118121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bg1"/>
                </a:solidFill>
              </a:rPr>
              <a:t>Efficient time series processing for edge computing and IoT</a:t>
            </a:r>
            <a:endParaRPr lang="pl-PL" sz="3600" dirty="0">
              <a:solidFill>
                <a:schemeClr val="bg1"/>
              </a:solidFill>
            </a:endParaRP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D30DD302-5970-0B15-F578-E3C65E3DBD9C}"/>
              </a:ext>
            </a:extLst>
          </p:cNvPr>
          <p:cNvSpPr txBox="1">
            <a:spLocks/>
          </p:cNvSpPr>
          <p:nvPr/>
        </p:nvSpPr>
        <p:spPr>
          <a:xfrm>
            <a:off x="574191" y="2491305"/>
            <a:ext cx="4316897" cy="499274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100" dirty="0">
                <a:solidFill>
                  <a:srgbClr val="8B19FE"/>
                </a:solidFill>
              </a:rPr>
              <a:t>Oresztesz Margaritisz</a:t>
            </a:r>
            <a:endParaRPr lang="pl-PL" sz="2100" dirty="0">
              <a:solidFill>
                <a:srgbClr val="8B19FE"/>
              </a:solidFill>
            </a:endParaRP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2E35BE07-0B2F-6C29-4946-24225B37C7A5}"/>
              </a:ext>
            </a:extLst>
          </p:cNvPr>
          <p:cNvSpPr txBox="1">
            <a:spLocks/>
          </p:cNvSpPr>
          <p:nvPr/>
        </p:nvSpPr>
        <p:spPr>
          <a:xfrm>
            <a:off x="574191" y="2990579"/>
            <a:ext cx="4316897" cy="148294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dirty="0">
                <a:solidFill>
                  <a:srgbClr val="8B19FE"/>
                </a:solidFill>
              </a:rPr>
              <a:t>Chief Engineer</a:t>
            </a:r>
            <a:r>
              <a:rPr lang="pl-PL" sz="1350" dirty="0">
                <a:solidFill>
                  <a:srgbClr val="8B19FE"/>
                </a:solidFill>
              </a:rPr>
              <a:t>, </a:t>
            </a:r>
            <a:r>
              <a:rPr lang="en-US" sz="1350" dirty="0">
                <a:solidFill>
                  <a:srgbClr val="8B19FE"/>
                </a:solidFill>
              </a:rPr>
              <a:t>&lt;EPAM&gt;</a:t>
            </a:r>
            <a:endParaRPr lang="pl-PL" sz="1350" dirty="0">
              <a:solidFill>
                <a:srgbClr val="8B19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06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edge computing?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10,000 feet view</a:t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375" y="304800"/>
            <a:ext cx="6949258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3748200" y="2150850"/>
            <a:ext cx="164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 b="1"/>
              <a:t>VS</a:t>
            </a:r>
            <a:endParaRPr sz="5900" b="1"/>
          </a:p>
        </p:txBody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r="48051"/>
          <a:stretch/>
        </p:blipFill>
        <p:spPr>
          <a:xfrm>
            <a:off x="386150" y="376025"/>
            <a:ext cx="1282926" cy="18530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4">
            <a:alphaModFix/>
          </a:blip>
          <a:srcRect l="3064" t="10459" r="25491" b="14773"/>
          <a:stretch/>
        </p:blipFill>
        <p:spPr>
          <a:xfrm>
            <a:off x="1933400" y="690575"/>
            <a:ext cx="1459100" cy="12239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3" name="Google Shape;153;p16" descr="SIM33EAU GPS Module - Parallax | Mous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57550" y="2571750"/>
            <a:ext cx="2624725" cy="19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1345625" y="3093177"/>
            <a:ext cx="1510350" cy="86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Lesson 27 Sound Sensor — SunFounder sensor-kit-v2-for-arduino documentatio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2768775" y="2967235"/>
            <a:ext cx="1282925" cy="111531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30340" y="4323275"/>
            <a:ext cx="2624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50-100Hz</a:t>
            </a:r>
            <a:endParaRPr sz="3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395801" y="1562721"/>
            <a:ext cx="3362050" cy="1853049"/>
          </a:xfrm>
          <a:prstGeom prst="rect">
            <a:avLst/>
          </a:prstGeom>
          <a:solidFill>
            <a:srgbClr val="43434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EEAD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1800" dirty="0">
              <a:solidFill>
                <a:srgbClr val="FFEE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EEAD"/>
                </a:solidFill>
                <a:latin typeface="Montserrat"/>
                <a:ea typeface="Montserrat"/>
                <a:cs typeface="Montserrat"/>
                <a:sym typeface="Montserrat"/>
              </a:rPr>
              <a:t>    "timestamp": 1725888108,</a:t>
            </a:r>
            <a:endParaRPr sz="1800" dirty="0">
              <a:solidFill>
                <a:srgbClr val="FFEE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EEAD"/>
                </a:solidFill>
                <a:latin typeface="Montserrat"/>
                <a:ea typeface="Montserrat"/>
                <a:cs typeface="Montserrat"/>
                <a:sym typeface="Montserrat"/>
              </a:rPr>
              <a:t>    "probability": 0.59,</a:t>
            </a:r>
            <a:endParaRPr sz="1800" dirty="0">
              <a:solidFill>
                <a:srgbClr val="FFEE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EEAD"/>
                </a:solidFill>
                <a:latin typeface="Montserrat"/>
                <a:ea typeface="Montserrat"/>
                <a:cs typeface="Montserrat"/>
                <a:sym typeface="Montserrat"/>
              </a:rPr>
              <a:t>    "box": [642, 1011, 320, 480],</a:t>
            </a:r>
            <a:endParaRPr sz="1800" dirty="0">
              <a:solidFill>
                <a:srgbClr val="FFEE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EEAD"/>
                </a:solidFill>
                <a:latin typeface="Montserrat"/>
                <a:ea typeface="Montserrat"/>
                <a:cs typeface="Montserrat"/>
                <a:sym typeface="Montserrat"/>
              </a:rPr>
              <a:t>    "label": "robot"</a:t>
            </a:r>
            <a:endParaRPr sz="1800" dirty="0">
              <a:solidFill>
                <a:srgbClr val="FFEE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EEAD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1800" dirty="0">
              <a:solidFill>
                <a:srgbClr val="FFEE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Raspberry pi ai k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75" y="196850"/>
            <a:ext cx="2874000" cy="2374800"/>
          </a:xfrm>
          <a:prstGeom prst="roundRect">
            <a:avLst>
              <a:gd name="adj" fmla="val 9481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3" name="Google Shape;163;p17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Chipsets</a:t>
            </a:r>
            <a:endParaRPr/>
          </a:p>
        </p:txBody>
      </p:sp>
      <p:pic>
        <p:nvPicPr>
          <p:cNvPr id="164" name="Google Shape;164;p17" descr="google coral"/>
          <p:cNvPicPr preferRelativeResize="0"/>
          <p:nvPr/>
        </p:nvPicPr>
        <p:blipFill rotWithShape="1">
          <a:blip r:embed="rId4">
            <a:alphaModFix/>
          </a:blip>
          <a:srcRect l="21686" r="25662"/>
          <a:stretch/>
        </p:blipFill>
        <p:spPr>
          <a:xfrm>
            <a:off x="3171586" y="1334450"/>
            <a:ext cx="2211600" cy="2374800"/>
          </a:xfrm>
          <a:prstGeom prst="roundRect">
            <a:avLst>
              <a:gd name="adj" fmla="val 10243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17" descr="3.Coral M.2 Accelerator with Dual Edge TPU"/>
          <p:cNvPicPr preferRelativeResize="0"/>
          <p:nvPr/>
        </p:nvPicPr>
        <p:blipFill rotWithShape="1">
          <a:blip r:embed="rId5">
            <a:alphaModFix/>
          </a:blip>
          <a:srcRect l="5479" t="4156" r="5139" b="6645"/>
          <a:stretch/>
        </p:blipFill>
        <p:spPr>
          <a:xfrm>
            <a:off x="5449825" y="2785450"/>
            <a:ext cx="3134700" cy="1773900"/>
          </a:xfrm>
          <a:prstGeom prst="roundRect">
            <a:avLst>
              <a:gd name="adj" fmla="val 10843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6" name="Google Shape;166;p17"/>
          <p:cNvSpPr txBox="1"/>
          <p:nvPr/>
        </p:nvSpPr>
        <p:spPr>
          <a:xfrm>
            <a:off x="1006575" y="2571750"/>
            <a:ext cx="13224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Hailo AI Kit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3420775" y="3709350"/>
            <a:ext cx="1719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Coral Edge TPU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6045400" y="4559325"/>
            <a:ext cx="19434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Coral Dual Edge TPU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Communication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Internal Communication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28856" cy="400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Time Series - Distributed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86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our constraints?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Wear Leveling"/>
          <p:cNvPicPr preferRelativeResize="0"/>
          <p:nvPr/>
        </p:nvPicPr>
        <p:blipFill rotWithShape="1">
          <a:blip r:embed="rId3">
            <a:alphaModFix/>
          </a:blip>
          <a:srcRect l="11078" t="13278" r="9619" b="21502"/>
          <a:stretch/>
        </p:blipFill>
        <p:spPr>
          <a:xfrm>
            <a:off x="1233375" y="186673"/>
            <a:ext cx="6677400" cy="4118700"/>
          </a:xfrm>
          <a:prstGeom prst="roundRect">
            <a:avLst>
              <a:gd name="adj" fmla="val 10826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6" name="Google Shape;196;p22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Wear Leveling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Wear Leveling - Hardware</a:t>
            </a:r>
            <a:endParaRPr/>
          </a:p>
        </p:txBody>
      </p:sp>
      <p:pic>
        <p:nvPicPr>
          <p:cNvPr id="202" name="Google Shape;202;p23" descr="https://ae-pic-a1.aliexpress-media.com/kf/Sf5141d77e7f8472295768de484c4a1e2a/eMMC-Module-8GB-32GB-64GB-16GB-for-NanoPi-M4-NEO4-RK3399-emmc-microSD-TF-adapter.jpg"/>
          <p:cNvPicPr preferRelativeResize="0"/>
          <p:nvPr/>
        </p:nvPicPr>
        <p:blipFill rotWithShape="1">
          <a:blip r:embed="rId3">
            <a:alphaModFix/>
          </a:blip>
          <a:srcRect l="5171" t="11717" r="6269" b="13071"/>
          <a:stretch/>
        </p:blipFill>
        <p:spPr>
          <a:xfrm>
            <a:off x="363350" y="313450"/>
            <a:ext cx="3191400" cy="217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1297913" y="2603050"/>
            <a:ext cx="13224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eMMC adapter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475" y="512925"/>
            <a:ext cx="2932275" cy="29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descr="High endurance UHS-I microSD 32GB front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7350" y="2326750"/>
            <a:ext cx="2303825" cy="23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SQLite3 vs InfluxDB</a:t>
            </a:r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l="29429" t="20284" r="53803" b="71488"/>
          <a:stretch/>
        </p:blipFill>
        <p:spPr>
          <a:xfrm>
            <a:off x="1349725" y="2566100"/>
            <a:ext cx="3312000" cy="9141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4" name="Google Shape;214;p24"/>
          <p:cNvPicPr preferRelativeResize="0"/>
          <p:nvPr/>
        </p:nvPicPr>
        <p:blipFill rotWithShape="1">
          <a:blip r:embed="rId4">
            <a:alphaModFix/>
          </a:blip>
          <a:srcRect l="4319" t="11896" r="7349" b="12904"/>
          <a:stretch/>
        </p:blipFill>
        <p:spPr>
          <a:xfrm>
            <a:off x="5057288" y="2220613"/>
            <a:ext cx="3155100" cy="1605000"/>
          </a:xfrm>
          <a:prstGeom prst="roundRect">
            <a:avLst>
              <a:gd name="adj" fmla="val 9932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Hardware</a:t>
            </a:r>
            <a:endParaRPr/>
          </a:p>
        </p:txBody>
      </p:sp>
      <p:graphicFrame>
        <p:nvGraphicFramePr>
          <p:cNvPr id="220" name="Google Shape;220;p25"/>
          <p:cNvGraphicFramePr/>
          <p:nvPr/>
        </p:nvGraphicFramePr>
        <p:xfrm>
          <a:off x="614125" y="1758925"/>
          <a:ext cx="7915750" cy="1625670"/>
        </p:xfrm>
        <a:graphic>
          <a:graphicData uri="http://schemas.openxmlformats.org/drawingml/2006/table">
            <a:tbl>
              <a:tblPr>
                <a:noFill/>
                <a:tableStyleId>{4F57F869-8F06-4E3D-9445-9C60E8E8C20B}</a:tableStyleId>
              </a:tblPr>
              <a:tblGrid>
                <a:gridCol w="15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Hardware</a:t>
                      </a:r>
                      <a:endParaRPr sz="12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Chipset</a:t>
                      </a:r>
                      <a:endParaRPr sz="12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Instruction Set</a:t>
                      </a:r>
                      <a:endParaRPr sz="12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SQLite3</a:t>
                      </a:r>
                      <a:endParaRPr sz="12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InfluxDB</a:t>
                      </a:r>
                      <a:endParaRPr sz="12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 2 Model B v1.1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ARMv7 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 Bit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 2 Model B v1.2 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…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 5 Model B</a:t>
                      </a:r>
                      <a:endParaRPr sz="13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ARMv8</a:t>
                      </a:r>
                      <a:endParaRPr sz="13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 Bit</a:t>
                      </a:r>
                      <a:endParaRPr sz="13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1" name="Google Shape;221;p25"/>
          <p:cNvSpPr/>
          <p:nvPr/>
        </p:nvSpPr>
        <p:spPr>
          <a:xfrm>
            <a:off x="6041125" y="2286775"/>
            <a:ext cx="213600" cy="2280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6041125" y="2880875"/>
            <a:ext cx="213600" cy="2280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7587025" y="2286800"/>
            <a:ext cx="213600" cy="228000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7587025" y="2880875"/>
            <a:ext cx="213600" cy="2280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✓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Derived data - combinations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✓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Resampling, downsampling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✓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Aggregation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✓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Background processing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✓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Retention policies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We Want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</a:t>
            </a:r>
            <a:endParaRPr/>
          </a:p>
        </p:txBody>
      </p:sp>
      <p:graphicFrame>
        <p:nvGraphicFramePr>
          <p:cNvPr id="236" name="Google Shape;236;p27"/>
          <p:cNvGraphicFramePr/>
          <p:nvPr/>
        </p:nvGraphicFramePr>
        <p:xfrm>
          <a:off x="952500" y="19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{4F57F869-8F06-4E3D-9445-9C60E8E8C20B}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Conceptual Integrity</a:t>
                      </a:r>
                      <a:endParaRPr sz="1200" i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reads &amp; writes logically separated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query &amp; command encapsulation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decoupling “sensing” from “recording”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single responsibility principle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</a:t>
            </a:r>
            <a:endParaRPr/>
          </a:p>
        </p:txBody>
      </p:sp>
      <p:graphicFrame>
        <p:nvGraphicFramePr>
          <p:cNvPr id="242" name="Google Shape;242;p28"/>
          <p:cNvGraphicFramePr/>
          <p:nvPr/>
        </p:nvGraphicFramePr>
        <p:xfrm>
          <a:off x="952500" y="156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{4F57F869-8F06-4E3D-9445-9C60E8E8C20B}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6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Maintainability, Reusability, Portability, Testability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installation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schema checks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lock-step deployments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library support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mock data format &amp; injection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 coverage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Integration options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</a:t>
            </a:r>
            <a:endParaRPr/>
          </a:p>
        </p:txBody>
      </p:sp>
      <p:graphicFrame>
        <p:nvGraphicFramePr>
          <p:cNvPr id="248" name="Google Shape;248;p29"/>
          <p:cNvGraphicFramePr/>
          <p:nvPr/>
        </p:nvGraphicFramePr>
        <p:xfrm>
          <a:off x="952500" y="184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{4F57F869-8F06-4E3D-9445-9C60E8E8C20B}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6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latency (soft real-time)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throughput (datapoints/sec)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memory footprint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CPU usage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IOPS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</a:t>
            </a:r>
            <a:endParaRPr/>
          </a:p>
        </p:txBody>
      </p:sp>
      <p:graphicFrame>
        <p:nvGraphicFramePr>
          <p:cNvPr id="254" name="Google Shape;254;p30"/>
          <p:cNvGraphicFramePr/>
          <p:nvPr/>
        </p:nvGraphicFramePr>
        <p:xfrm>
          <a:off x="952500" y="19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{4F57F869-8F06-4E3D-9445-9C60E8E8C20B}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Security</a:t>
                      </a:r>
                      <a:endParaRPr sz="1200" i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remote/local port exposed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read/write permissions separated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available for certain Unix users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protected with strong password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Drunk Crane Operator</a:t>
            </a:r>
            <a:endParaRPr/>
          </a:p>
        </p:txBody>
      </p:sp>
      <p:pic>
        <p:nvPicPr>
          <p:cNvPr id="260" name="Google Shape;260;p31" descr="Crane Operator (Sideshow Bob Roberts) | Simpsons Wiki | Fandom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4188" y="1307850"/>
            <a:ext cx="4275600" cy="3206700"/>
          </a:xfrm>
          <a:prstGeom prst="roundRect">
            <a:avLst>
              <a:gd name="adj" fmla="val 6734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700" y="1101250"/>
            <a:ext cx="7272600" cy="3801000"/>
          </a:xfrm>
          <a:prstGeom prst="snip2SameRect">
            <a:avLst>
              <a:gd name="adj1" fmla="val 15783"/>
              <a:gd name="adj2" fmla="val 0"/>
            </a:avLst>
          </a:prstGeom>
          <a:noFill/>
          <a:ln>
            <a:noFill/>
          </a:ln>
        </p:spPr>
      </p:pic>
      <p:sp>
        <p:nvSpPr>
          <p:cNvPr id="266" name="Google Shape;266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</a:t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4388325" y="1852250"/>
            <a:ext cx="1211100" cy="391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SERIAL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Features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</a:t>
            </a:r>
            <a:endParaRPr/>
          </a:p>
        </p:txBody>
      </p:sp>
      <p:pic>
        <p:nvPicPr>
          <p:cNvPr id="283" name="Google Shape;2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197" cy="3141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 - SYNC</a:t>
            </a:r>
            <a:endParaRPr/>
          </a:p>
        </p:txBody>
      </p:sp>
      <p:pic>
        <p:nvPicPr>
          <p:cNvPr id="289" name="Google Shape;2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79356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 - ASYNC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579573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 - Batch</a:t>
            </a:r>
            <a:endParaRPr/>
          </a:p>
        </p:txBody>
      </p:sp>
      <p:pic>
        <p:nvPicPr>
          <p:cNvPr id="301" name="Google Shape;3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790415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Consumption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988" y="152400"/>
            <a:ext cx="473801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7850"/>
            <a:ext cx="8839198" cy="370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Size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Size - Reduced</a:t>
            </a:r>
            <a:endParaRPr/>
          </a:p>
        </p:txBody>
      </p:sp>
      <p:pic>
        <p:nvPicPr>
          <p:cNvPr id="323" name="Google Shape;3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00" y="1419600"/>
            <a:ext cx="8564191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13" y="806325"/>
            <a:ext cx="2705165" cy="35308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29" name="Google Shape;329;p4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Hints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340" name="Google Shape;34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150" y="1307850"/>
            <a:ext cx="4362258" cy="353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2089" y="1671316"/>
            <a:ext cx="1800600" cy="1800600"/>
          </a:xfrm>
          <a:prstGeom prst="ellipse">
            <a:avLst/>
          </a:prstGeom>
          <a:noFill/>
          <a:ln w="76200" cap="flat" cmpd="sng">
            <a:solidFill>
              <a:srgbClr val="82C7A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288</Words>
  <Application>Microsoft Office PowerPoint</Application>
  <PresentationFormat>On-screen Show (16:9)</PresentationFormat>
  <Paragraphs>91</Paragraphs>
  <Slides>34</Slides>
  <Notes>33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Montserrat</vt:lpstr>
      <vt:lpstr>Lato</vt:lpstr>
      <vt:lpstr>Focus</vt:lpstr>
      <vt:lpstr>Efficient time series processing for edge computing and IoT</vt:lpstr>
      <vt:lpstr>PowerPoint Presentation</vt:lpstr>
      <vt:lpstr>Why edge computing?</vt:lpstr>
      <vt:lpstr>PowerPoint Presentation</vt:lpstr>
      <vt:lpstr>VS</vt:lpstr>
      <vt:lpstr>PowerPoint Presentation</vt:lpstr>
      <vt:lpstr>Internal Communication</vt:lpstr>
      <vt:lpstr>PowerPoint Presentation</vt:lpstr>
      <vt:lpstr>PowerPoint Presentation</vt:lpstr>
      <vt:lpstr>What are our constraints?</vt:lpstr>
      <vt:lpstr>PowerPoint Presentation</vt:lpstr>
      <vt:lpstr>PowerPoint Presentation</vt:lpstr>
      <vt:lpstr>SQLite3 vs InfluxDB</vt:lpstr>
      <vt:lpstr>Target Hardware</vt:lpstr>
      <vt:lpstr>Features We Want</vt:lpstr>
      <vt:lpstr>Quality Attributes</vt:lpstr>
      <vt:lpstr>Quality Attributes</vt:lpstr>
      <vt:lpstr>Quality Attributes</vt:lpstr>
      <vt:lpstr>Quality Attributes</vt:lpstr>
      <vt:lpstr>Drunk Crane Operator</vt:lpstr>
      <vt:lpstr>Wiring</vt:lpstr>
      <vt:lpstr>Core Features</vt:lpstr>
      <vt:lpstr>Performance</vt:lpstr>
      <vt:lpstr>Latency</vt:lpstr>
      <vt:lpstr>Throughput - SYNC</vt:lpstr>
      <vt:lpstr>Throughput - ASYNC </vt:lpstr>
      <vt:lpstr>Throughput - Batch</vt:lpstr>
      <vt:lpstr>Memory Consumption</vt:lpstr>
      <vt:lpstr>PowerPoint Presentation</vt:lpstr>
      <vt:lpstr>Binary Size</vt:lpstr>
      <vt:lpstr>Binary Size - Reduced</vt:lpstr>
      <vt:lpstr>PowerPoint Presentation</vt:lpstr>
      <vt:lpstr>Questions?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Oresztesz Margaritisz</cp:lastModifiedBy>
  <cp:revision>9</cp:revision>
  <dcterms:modified xsi:type="dcterms:W3CDTF">2025-02-26T16:35:44Z</dcterms:modified>
</cp:coreProperties>
</file>